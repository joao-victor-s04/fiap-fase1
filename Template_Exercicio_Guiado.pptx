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</p:sldMasterIdLst>
  <p:notesMasterIdLst>
    <p:notesMasterId r:id="rId13"/>
  </p:notesMasterIdLst>
  <p:handoutMasterIdLst>
    <p:handoutMasterId r:id="rId14"/>
  </p:handoutMasterIdLst>
  <p:sldIdLst>
    <p:sldId id="1738" r:id="rId5"/>
    <p:sldId id="1742" r:id="rId6"/>
    <p:sldId id="1641" r:id="rId7"/>
    <p:sldId id="1628" r:id="rId8"/>
    <p:sldId id="1642" r:id="rId9"/>
    <p:sldId id="1736" r:id="rId10"/>
    <p:sldId id="1643" r:id="rId11"/>
    <p:sldId id="1737" r:id="rId12"/>
  </p:sldIdLst>
  <p:sldSz cx="9144000" cy="6858000" type="screen4x3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CC0099"/>
    <a:srgbClr val="FFFFFF"/>
    <a:srgbClr val="A45C50"/>
    <a:srgbClr val="EC1F25"/>
    <a:srgbClr val="F38221"/>
    <a:srgbClr val="717171"/>
    <a:srgbClr val="ACACAC"/>
    <a:srgbClr val="E8E8E8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898" autoAdjust="0"/>
  </p:normalViewPr>
  <p:slideViewPr>
    <p:cSldViewPr snapToGrid="0" snapToObjects="1">
      <p:cViewPr varScale="1">
        <p:scale>
          <a:sx n="75" d="100"/>
          <a:sy n="75" d="100"/>
        </p:scale>
        <p:origin x="163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552"/>
    </p:cViewPr>
  </p:sorter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01A63A9-F13B-46F1-A93F-27AA737FD7E7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F2F50FE-E718-42E3-9D8A-946F780C79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0466-E297-DA7E-6F61-9A9A3D15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ACA0E-3AE2-5B18-29B9-8769E2BD5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062CE-1607-451E-6E6C-8585E30D0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F7B5F-8F4A-6F79-96CA-FA973A244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52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8FEF-55A0-8072-E14D-3337BBFE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47703F-37DC-AEBB-1996-D32C4A924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282D44-C024-7DC5-D2AF-E990A3CC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	</a:t>
            </a:r>
            <a:endParaRPr lang="en-GB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4708EC-1D6D-39D8-D974-461BC1FC0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1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B3BE-174F-30DE-4827-9849678E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B8852-1C06-4E9E-3CDB-93C643E92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00D9F-31F2-BFA8-9F0F-5E33F5F5A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B36CA-8899-3CB7-3664-6C11F2CE9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8D073-5C98-EDDF-8230-F3D61363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CB53-4F78-4B09-85B7-7C36C56F0B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57117E-79F9-643E-60F7-1B518C01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AB3CC7-DD82-4834-06F7-CC334CFC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6B1-58E9-4040-8AE3-DF10BA733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955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DF35F-0E25-4F1E-A339-C32D36C15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8303EF-B289-418F-BFFE-D5E437D51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6264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7B34-7ECD-3B0C-BB3C-BFBBB262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3F4E1C-258C-18F4-4058-54FDF4740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90465"/>
              </p:ext>
            </p:extLst>
          </p:nvPr>
        </p:nvGraphicFramePr>
        <p:xfrm>
          <a:off x="1065005" y="4141395"/>
          <a:ext cx="6330874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64653">
                  <a:extLst>
                    <a:ext uri="{9D8B030D-6E8A-4147-A177-3AD203B41FA5}">
                      <a16:colId xmlns:a16="http://schemas.microsoft.com/office/drawing/2014/main" val="238539408"/>
                    </a:ext>
                  </a:extLst>
                </a:gridCol>
                <a:gridCol w="1366221">
                  <a:extLst>
                    <a:ext uri="{9D8B030D-6E8A-4147-A177-3AD203B41FA5}">
                      <a16:colId xmlns:a16="http://schemas.microsoft.com/office/drawing/2014/main" val="307630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COMPONENTES EM ORDEM ALFABÉTICA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82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Aline Silva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678212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779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Bruno Lopes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678532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15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Eduarda Pompeo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685487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9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Noemia Julio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684734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5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Tatiana Marques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670511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4798"/>
                  </a:ext>
                </a:extLst>
              </a:tr>
            </a:tbl>
          </a:graphicData>
        </a:graphic>
      </p:graphicFrame>
      <p:sp>
        <p:nvSpPr>
          <p:cNvPr id="2" name="CaixaDeTexto 10">
            <a:extLst>
              <a:ext uri="{FF2B5EF4-FFF2-40B4-BE49-F238E27FC236}">
                <a16:creationId xmlns:a16="http://schemas.microsoft.com/office/drawing/2014/main" id="{8E9E5A3C-F7E4-E837-52DC-FBB7AC571F75}"/>
              </a:ext>
            </a:extLst>
          </p:cNvPr>
          <p:cNvSpPr txBox="1"/>
          <p:nvPr/>
        </p:nvSpPr>
        <p:spPr>
          <a:xfrm>
            <a:off x="107577" y="124341"/>
            <a:ext cx="8864302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1ª ENTREGA: MAPA INICIAL DE SUA MISSÃO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10">
            <a:extLst>
              <a:ext uri="{FF2B5EF4-FFF2-40B4-BE49-F238E27FC236}">
                <a16:creationId xmlns:a16="http://schemas.microsoft.com/office/drawing/2014/main" id="{D5BB6D03-6937-49B4-53B8-0A4F2AF6144F}"/>
              </a:ext>
            </a:extLst>
          </p:cNvPr>
          <p:cNvSpPr txBox="1"/>
          <p:nvPr/>
        </p:nvSpPr>
        <p:spPr>
          <a:xfrm>
            <a:off x="1054247" y="2837237"/>
            <a:ext cx="6352390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srgbClr val="0070C0"/>
                </a:solidFill>
                <a:latin typeface="Calibri"/>
              </a:rPr>
              <a:t>NOME DO GRUPO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prstClr val="black"/>
                </a:solidFill>
                <a:latin typeface="Calibri"/>
              </a:rPr>
              <a:t>OS INCRÍVEIS</a:t>
            </a:r>
          </a:p>
        </p:txBody>
      </p:sp>
      <p:sp>
        <p:nvSpPr>
          <p:cNvPr id="5" name="CaixaDeTexto 10">
            <a:extLst>
              <a:ext uri="{FF2B5EF4-FFF2-40B4-BE49-F238E27FC236}">
                <a16:creationId xmlns:a16="http://schemas.microsoft.com/office/drawing/2014/main" id="{18B28D46-DF80-B00E-0E79-A5AC935E94DB}"/>
              </a:ext>
            </a:extLst>
          </p:cNvPr>
          <p:cNvSpPr txBox="1"/>
          <p:nvPr/>
        </p:nvSpPr>
        <p:spPr>
          <a:xfrm>
            <a:off x="1043489" y="1107537"/>
            <a:ext cx="635239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pt-BR" sz="3200" b="1" dirty="0">
                <a:solidFill>
                  <a:srgbClr val="0070C0"/>
                </a:solidFill>
                <a:latin typeface="Calibri"/>
              </a:rPr>
              <a:t>DESAFIO ESCOLHIDO</a:t>
            </a:r>
          </a:p>
          <a:p>
            <a:pPr lvl="0" algn="ctr">
              <a:defRPr/>
            </a:pPr>
            <a:r>
              <a:rPr lang="pt-BR" sz="3200" b="1" dirty="0">
                <a:solidFill>
                  <a:prstClr val="black"/>
                </a:solidFill>
                <a:latin typeface="Calibri"/>
              </a:rPr>
              <a:t>A cidade </a:t>
            </a:r>
            <a:r>
              <a:rPr lang="pt-BR" sz="3200" b="1" dirty="0">
                <a:solidFill>
                  <a:prstClr val="black"/>
                </a:solidFill>
              </a:rPr>
              <a:t>Alfa e a gestão de resíduos.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01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D299-8560-B63A-C7EE-3EEE8F1A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93EA70-B7AC-5684-D39A-82A4624EEBB5}"/>
              </a:ext>
            </a:extLst>
          </p:cNvPr>
          <p:cNvSpPr txBox="1"/>
          <p:nvPr/>
        </p:nvSpPr>
        <p:spPr>
          <a:xfrm>
            <a:off x="149528" y="124341"/>
            <a:ext cx="712264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2ª ENTREGA: D</a:t>
            </a:r>
            <a:r>
              <a:rPr lang="pt-BR" sz="3200" b="1" dirty="0">
                <a:solidFill>
                  <a:prstClr val="black"/>
                </a:solidFill>
                <a:latin typeface="Calibri"/>
              </a:rPr>
              <a:t>O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SSIÊ DO PROBLEMA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9FE3B3-89E6-27C8-D68A-DE8D675C5654}"/>
              </a:ext>
            </a:extLst>
          </p:cNvPr>
          <p:cNvSpPr txBox="1"/>
          <p:nvPr/>
        </p:nvSpPr>
        <p:spPr>
          <a:xfrm>
            <a:off x="136095" y="1476994"/>
            <a:ext cx="8871810" cy="51706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2200" dirty="0"/>
              <a:t>Com o crescimento incessante da população nos dias atuais e o aumento do consumo, a cidade Alfa enfrenta desafios cada vez maiores na coleta, separação e destinação correta de materiais recicláveis, gerando impactos ambientais, sociais e econômicos. Diante desse cenário, surge a necessidade de criar pontos de coletas de resíduos, ampliar as fábricas de reciclagem e, sobretudo, criar uma solução que conecte diretamente a população a essas unidades produtivas. </a:t>
            </a:r>
          </a:p>
          <a:p>
            <a:pPr>
              <a:buClr>
                <a:srgbClr val="0070C0"/>
              </a:buClr>
            </a:pPr>
            <a:endParaRPr lang="pt-BR" sz="2200" dirty="0"/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2200" dirty="0"/>
              <a:t>Uma outra grande oportunidade surge com a possibilidade de que pessoas (com ou sem renda) encontrem, na coleta, organização e entrega de materiais recicláveis, uma oportunidade real de trabalho e sustento. A sua missão será, por meio de uma solução baseada em dados, organizar esse ecossistema, otimizar rotas, monitorar volumes coletados, garantir transparência e transformar a reciclagem em um instrumento concreto de prosperidade, inclusão social e dignidade para a população da cidade Alfa.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58AFE9-913B-5D40-C782-2353117FB5C4}"/>
              </a:ext>
            </a:extLst>
          </p:cNvPr>
          <p:cNvSpPr txBox="1"/>
          <p:nvPr/>
        </p:nvSpPr>
        <p:spPr>
          <a:xfrm>
            <a:off x="136095" y="813813"/>
            <a:ext cx="7136074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defRPr>
            </a:lvl1pPr>
          </a:lstStyle>
          <a:p>
            <a:pPr lvl="0"/>
            <a:r>
              <a:rPr lang="pt-BR" sz="2400" dirty="0"/>
              <a:t>CONTEXTUALIZAÇÃO DO PROBLEMA A SER RESOLVIDO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A group of people carrying garbage bags&#10;&#10;AI-generated content may be incorrect.">
            <a:extLst>
              <a:ext uri="{FF2B5EF4-FFF2-40B4-BE49-F238E27FC236}">
                <a16:creationId xmlns:a16="http://schemas.microsoft.com/office/drawing/2014/main" id="{1227AE3D-7A01-CBFC-5099-2D5179C0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82" y="109923"/>
            <a:ext cx="1749170" cy="116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3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891A-E75C-427F-399C-16450514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">
            <a:extLst>
              <a:ext uri="{FF2B5EF4-FFF2-40B4-BE49-F238E27FC236}">
                <a16:creationId xmlns:a16="http://schemas.microsoft.com/office/drawing/2014/main" id="{213C9833-85CE-30FB-AC7C-CB0164CE96E1}"/>
              </a:ext>
            </a:extLst>
          </p:cNvPr>
          <p:cNvSpPr txBox="1"/>
          <p:nvPr/>
        </p:nvSpPr>
        <p:spPr>
          <a:xfrm>
            <a:off x="32273" y="199693"/>
            <a:ext cx="903313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defRPr>
            </a:lvl1pPr>
          </a:lstStyle>
          <a:p>
            <a:pPr algn="ctr"/>
            <a:endParaRPr lang="pt-BR" sz="800" dirty="0"/>
          </a:p>
          <a:p>
            <a:pPr algn="ctr"/>
            <a:r>
              <a:rPr lang="pt-BR" sz="2000" dirty="0"/>
              <a:t>3ª ENTREGA: MAPA DA EMPATIA - PERSONA FRANCISCO</a:t>
            </a:r>
          </a:p>
          <a:p>
            <a:pPr algn="ctr"/>
            <a:endParaRPr lang="pt-BR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B3E86-E09C-D939-4738-4F7260A9F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3" y="944610"/>
            <a:ext cx="6965111" cy="571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21EC-5477-4CDC-75A1-F1F6B74A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C3B2D1-1EAC-371E-9F5D-34E19F646645}"/>
              </a:ext>
            </a:extLst>
          </p:cNvPr>
          <p:cNvSpPr txBox="1"/>
          <p:nvPr/>
        </p:nvSpPr>
        <p:spPr>
          <a:xfrm>
            <a:off x="149528" y="124341"/>
            <a:ext cx="8871811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prstClr val="black"/>
                </a:solidFill>
                <a:latin typeface="Calibri"/>
              </a:rPr>
              <a:t>4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ª ENTREGA: PERSONA(S)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9746DC-8BB8-15FA-6C26-66456C34CFCE}"/>
              </a:ext>
            </a:extLst>
          </p:cNvPr>
          <p:cNvSpPr/>
          <p:nvPr/>
        </p:nvSpPr>
        <p:spPr>
          <a:xfrm>
            <a:off x="3359186" y="1560806"/>
            <a:ext cx="5662153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all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PERSONA</a:t>
            </a:r>
          </a:p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kern="0" cap="all" dirty="0">
                <a:latin typeface="Calibri"/>
              </a:rPr>
              <a:t>FRANCISCO</a:t>
            </a:r>
            <a:endParaRPr kumimoji="0" lang="pt-BR" sz="2800" b="1" i="0" u="none" strike="noStrike" kern="0" cap="all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B7CA63-77E3-A350-2EF8-4E81CC0160E6}"/>
              </a:ext>
            </a:extLst>
          </p:cNvPr>
          <p:cNvSpPr txBox="1"/>
          <p:nvPr/>
        </p:nvSpPr>
        <p:spPr>
          <a:xfrm>
            <a:off x="3359186" y="2514913"/>
            <a:ext cx="5662153" cy="42319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Idade: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 anos.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Estado civil: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Casado.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1600" b="1" dirty="0"/>
              <a:t>Família:</a:t>
            </a:r>
            <a:r>
              <a:rPr lang="pt-BR" sz="1600" dirty="0"/>
              <a:t> Dois filhos pequenos (5 e 8 anos) e o cachorro caramelo.</a:t>
            </a:r>
            <a:br>
              <a:rPr lang="pt-BR" sz="1600" dirty="0"/>
            </a:br>
            <a:r>
              <a:rPr lang="pt-BR" sz="1600" b="1" dirty="0"/>
              <a:t>Profissão:</a:t>
            </a:r>
            <a:r>
              <a:rPr lang="pt-BR" sz="1600" dirty="0"/>
              <a:t> Francisco trabalha com coleta de resíduo reciclável.</a:t>
            </a:r>
            <a:br>
              <a:rPr lang="pt-BR" sz="1600" dirty="0"/>
            </a:br>
            <a:r>
              <a:rPr lang="pt-BR" sz="1600" b="1" dirty="0"/>
              <a:t>Localização:</a:t>
            </a:r>
            <a:r>
              <a:rPr lang="pt-BR" sz="1600" dirty="0"/>
              <a:t> São Paulo (SP).</a:t>
            </a:r>
            <a:br>
              <a:rPr lang="pt-BR" sz="1600" dirty="0"/>
            </a:br>
            <a:r>
              <a:rPr lang="pt-BR" sz="1600" b="1" dirty="0"/>
              <a:t>Informações sobre a persona:</a:t>
            </a:r>
            <a:endParaRPr lang="pt-BR" sz="1600" dirty="0"/>
          </a:p>
          <a:p>
            <a:pPr marL="177800" indent="-177800">
              <a:buFont typeface="Wingdings" panose="05000000000000000000" pitchFamily="2" charset="2"/>
              <a:buChar char="§"/>
            </a:pPr>
            <a:r>
              <a:rPr lang="pt-BR" sz="1200" dirty="0"/>
              <a:t>Convive com a desigualdade social, áreas com descarte irregular de lixo e falta de infraestrutura para apoio ao catador. Também observa o desperdício de materiais que geram renda e sustento.</a:t>
            </a:r>
          </a:p>
          <a:p>
            <a:pPr marL="177800" indent="-177800">
              <a:buFont typeface="Wingdings" panose="05000000000000000000" pitchFamily="2" charset="2"/>
              <a:buChar char="§"/>
            </a:pPr>
            <a:endParaRPr lang="pt-BR" sz="800" dirty="0"/>
          </a:p>
          <a:p>
            <a:pPr marL="177800" indent="-177800">
              <a:buFont typeface="Wingdings" panose="05000000000000000000" pitchFamily="2" charset="2"/>
              <a:buChar char="§"/>
            </a:pPr>
            <a:r>
              <a:rPr lang="pt-BR" sz="1200" dirty="0"/>
              <a:t>Diariamente se preocupa com o sustento da família e vive com instabilidade financeira. </a:t>
            </a:r>
          </a:p>
          <a:p>
            <a:pPr marL="177800" indent="-177800">
              <a:buFont typeface="Wingdings" panose="05000000000000000000" pitchFamily="2" charset="2"/>
              <a:buChar char="§"/>
            </a:pPr>
            <a:endParaRPr lang="pt-BR" sz="800" dirty="0"/>
          </a:p>
          <a:p>
            <a:pPr marL="177800" indent="-177800">
              <a:buFont typeface="Wingdings" panose="05000000000000000000" pitchFamily="2" charset="2"/>
              <a:buChar char="§"/>
            </a:pPr>
            <a:r>
              <a:rPr lang="pt-BR" sz="1200" dirty="0"/>
              <a:t>Sente orgulho de realizar um trabalho honesto e contribuir com a preservação do meio ambiente.</a:t>
            </a:r>
          </a:p>
          <a:p>
            <a:pPr marL="177800" indent="-177800">
              <a:buFont typeface="Wingdings" panose="05000000000000000000" pitchFamily="2" charset="2"/>
              <a:buChar char="§"/>
            </a:pPr>
            <a:endParaRPr lang="pt-BR" sz="800" dirty="0"/>
          </a:p>
          <a:p>
            <a:pPr marL="177800" indent="-177800">
              <a:buFont typeface="Wingdings" panose="05000000000000000000" pitchFamily="2" charset="2"/>
              <a:buChar char="§"/>
            </a:pPr>
            <a:r>
              <a:rPr lang="pt-BR" sz="1200" dirty="0"/>
              <a:t>Relata as dificuldades da profissão a colegas, reclama da variação dos preços dos materiais, negocia com atravessadores, organiza manualmente os resíduos coletados, transporta os materiais até os pontos de venda e tenta maximizar o volume coletado a cada dia.</a:t>
            </a:r>
          </a:p>
          <a:p>
            <a:pPr marL="177800" indent="-177800">
              <a:buFont typeface="Wingdings" panose="05000000000000000000" pitchFamily="2" charset="2"/>
              <a:buChar char="§"/>
            </a:pPr>
            <a:endParaRPr kumimoji="0" lang="pt-BR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FD9430-2A14-E7F5-3D67-93393DE0E8A8}"/>
              </a:ext>
            </a:extLst>
          </p:cNvPr>
          <p:cNvSpPr txBox="1"/>
          <p:nvPr/>
        </p:nvSpPr>
        <p:spPr>
          <a:xfrm>
            <a:off x="149528" y="4528270"/>
            <a:ext cx="3120797" cy="21852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77800" indent="-177800"/>
            <a:r>
              <a:rPr lang="pt-BR" sz="1600" b="1" dirty="0"/>
              <a:t>Comportamento e expectativas:</a:t>
            </a:r>
            <a:endParaRPr lang="pt-BR" sz="16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/>
              <a:t>Trabalha diariamente em longas jornadas, com disciplina e esforço constante para garantir o sustento da família.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/>
              <a:t>Busca estabilidade financeira e sonha com uma renda mais previsível e justa.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/>
              <a:t>Espera ter melhores condições de trabalho, com apoio, equipamentos e mais segurança.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/>
              <a:t>Deseja ser reconhecido pela sociedade como um profissional essencial para a cidade e para o meio ambiente.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AE5F7A-6B96-1ED0-5527-7B6655C0B716}"/>
              </a:ext>
            </a:extLst>
          </p:cNvPr>
          <p:cNvSpPr txBox="1"/>
          <p:nvPr/>
        </p:nvSpPr>
        <p:spPr>
          <a:xfrm>
            <a:off x="3359185" y="856186"/>
            <a:ext cx="5662153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defRPr>
            </a:lvl1pPr>
          </a:lstStyle>
          <a:p>
            <a:pPr algn="ctr"/>
            <a:r>
              <a:rPr lang="pt-BR" sz="2800" dirty="0"/>
              <a:t>RESULTADO DO MAPA DA EMPATIA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A22AD9-2FE1-82DF-D7E4-8A32DBB4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8" y="791397"/>
            <a:ext cx="3120797" cy="36545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13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5CBC-8CFC-5168-ABA1-359F319C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76CAE3-1B37-6756-A9C4-FDBE39100515}"/>
              </a:ext>
            </a:extLst>
          </p:cNvPr>
          <p:cNvSpPr txBox="1"/>
          <p:nvPr/>
        </p:nvSpPr>
        <p:spPr>
          <a:xfrm>
            <a:off x="247597" y="307172"/>
            <a:ext cx="8800833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5ª ENTREGA: JORNADA DO USUÁRIO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C3F815-5104-C5C0-3743-537605E6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389" y="2501651"/>
            <a:ext cx="919781" cy="10771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740BD-2BF4-2D3F-C0EC-9DCA1A7E2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97" y="1113330"/>
            <a:ext cx="1537461" cy="982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1C4A29-927E-18CD-086D-48DAB427A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555" y="1246482"/>
            <a:ext cx="1386485" cy="8702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1BFD617-02EA-95F0-2091-9C15CEA189A0}"/>
              </a:ext>
            </a:extLst>
          </p:cNvPr>
          <p:cNvSpPr txBox="1"/>
          <p:nvPr/>
        </p:nvSpPr>
        <p:spPr>
          <a:xfrm>
            <a:off x="647203" y="2054818"/>
            <a:ext cx="9278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cidadão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49D437-23A5-118B-0231-A0C9BDFAA534}"/>
              </a:ext>
            </a:extLst>
          </p:cNvPr>
          <p:cNvSpPr txBox="1"/>
          <p:nvPr/>
        </p:nvSpPr>
        <p:spPr>
          <a:xfrm>
            <a:off x="2875083" y="3583065"/>
            <a:ext cx="2187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dirty="0"/>
              <a:t>Profissional coleta resíduo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B7F988-75E2-034C-50C9-2C640129AB2D}"/>
              </a:ext>
            </a:extLst>
          </p:cNvPr>
          <p:cNvCxnSpPr>
            <a:cxnSpLocks/>
          </p:cNvCxnSpPr>
          <p:nvPr/>
        </p:nvCxnSpPr>
        <p:spPr>
          <a:xfrm>
            <a:off x="2109749" y="1726692"/>
            <a:ext cx="935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0182B7F-9347-0C64-6600-1CA8D98ABD13}"/>
              </a:ext>
            </a:extLst>
          </p:cNvPr>
          <p:cNvSpPr txBox="1"/>
          <p:nvPr/>
        </p:nvSpPr>
        <p:spPr>
          <a:xfrm>
            <a:off x="2018969" y="1236403"/>
            <a:ext cx="1205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Cadastra e agenda a retirada resíduo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AA3D86-BD8E-65AC-1B54-03CB9905EBF6}"/>
              </a:ext>
            </a:extLst>
          </p:cNvPr>
          <p:cNvCxnSpPr>
            <a:cxnSpLocks/>
          </p:cNvCxnSpPr>
          <p:nvPr/>
        </p:nvCxnSpPr>
        <p:spPr>
          <a:xfrm>
            <a:off x="3977525" y="2145946"/>
            <a:ext cx="0" cy="310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9E31232-98B2-E8FB-9719-150D06425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617" y="2621748"/>
            <a:ext cx="1048329" cy="6687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CC6AC86-5F0B-5E23-D21E-1498ECC68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328" y="2488631"/>
            <a:ext cx="874252" cy="87024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946E1EE-49D5-8C17-5AC6-449E9EA7C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511" y="4964694"/>
            <a:ext cx="1642220" cy="83826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3AB6F03-4CE3-B058-06E7-CC3FBBDE1C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29" y="4876730"/>
            <a:ext cx="2072820" cy="104403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8B51E7-AB00-0965-2044-63AA58C5A7F1}"/>
              </a:ext>
            </a:extLst>
          </p:cNvPr>
          <p:cNvCxnSpPr>
            <a:cxnSpLocks/>
          </p:cNvCxnSpPr>
          <p:nvPr/>
        </p:nvCxnSpPr>
        <p:spPr>
          <a:xfrm>
            <a:off x="4444427" y="3003499"/>
            <a:ext cx="15918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DD34CF8-311B-2189-B2E7-2E3CF132384E}"/>
              </a:ext>
            </a:extLst>
          </p:cNvPr>
          <p:cNvSpPr txBox="1"/>
          <p:nvPr/>
        </p:nvSpPr>
        <p:spPr>
          <a:xfrm>
            <a:off x="4045350" y="2116723"/>
            <a:ext cx="1205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Acesso às coletas do dia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E72637-C1A3-6657-048D-D3B022915A54}"/>
              </a:ext>
            </a:extLst>
          </p:cNvPr>
          <p:cNvCxnSpPr>
            <a:cxnSpLocks/>
          </p:cNvCxnSpPr>
          <p:nvPr/>
        </p:nvCxnSpPr>
        <p:spPr>
          <a:xfrm>
            <a:off x="6644661" y="3706175"/>
            <a:ext cx="0" cy="1179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87D47C0-4418-4230-4957-4643F64D60BE}"/>
              </a:ext>
            </a:extLst>
          </p:cNvPr>
          <p:cNvSpPr txBox="1"/>
          <p:nvPr/>
        </p:nvSpPr>
        <p:spPr>
          <a:xfrm>
            <a:off x="6123328" y="3444380"/>
            <a:ext cx="1642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Residência do cidadão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E1293-3C72-B1D3-7FE4-D6EBB2D923D7}"/>
              </a:ext>
            </a:extLst>
          </p:cNvPr>
          <p:cNvSpPr txBox="1"/>
          <p:nvPr/>
        </p:nvSpPr>
        <p:spPr>
          <a:xfrm>
            <a:off x="6147969" y="5818163"/>
            <a:ext cx="11672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Ponto de Coleta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2B471BD-C888-5865-061E-3455639A1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309" y="5905553"/>
            <a:ext cx="1386485" cy="87024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974A79F-29CD-9F00-34E5-ACF06E3151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8224" y="4126491"/>
            <a:ext cx="874252" cy="852063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C34A8C0-3ABD-2C47-2595-36D24C278778}"/>
              </a:ext>
            </a:extLst>
          </p:cNvPr>
          <p:cNvCxnSpPr>
            <a:cxnSpLocks/>
          </p:cNvCxnSpPr>
          <p:nvPr/>
        </p:nvCxnSpPr>
        <p:spPr>
          <a:xfrm flipH="1">
            <a:off x="2493084" y="5423368"/>
            <a:ext cx="34914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DB6FAC9-D6D9-7565-3F5C-2FA2BA411204}"/>
              </a:ext>
            </a:extLst>
          </p:cNvPr>
          <p:cNvCxnSpPr>
            <a:cxnSpLocks/>
          </p:cNvCxnSpPr>
          <p:nvPr/>
        </p:nvCxnSpPr>
        <p:spPr>
          <a:xfrm>
            <a:off x="5433558" y="4392148"/>
            <a:ext cx="0" cy="2062440"/>
          </a:xfrm>
          <a:prstGeom prst="line">
            <a:avLst/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4FF86A1-6F20-5EFE-DBFF-B695600C7906}"/>
              </a:ext>
            </a:extLst>
          </p:cNvPr>
          <p:cNvCxnSpPr>
            <a:cxnSpLocks/>
          </p:cNvCxnSpPr>
          <p:nvPr/>
        </p:nvCxnSpPr>
        <p:spPr>
          <a:xfrm flipH="1">
            <a:off x="4648014" y="4392148"/>
            <a:ext cx="7855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7F089F5-106E-1813-EE34-55DA5D3BE746}"/>
              </a:ext>
            </a:extLst>
          </p:cNvPr>
          <p:cNvCxnSpPr>
            <a:cxnSpLocks/>
          </p:cNvCxnSpPr>
          <p:nvPr/>
        </p:nvCxnSpPr>
        <p:spPr>
          <a:xfrm flipH="1">
            <a:off x="4549944" y="6454588"/>
            <a:ext cx="8976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5613F4B-AE3E-E937-F9A3-E64B8627B029}"/>
              </a:ext>
            </a:extLst>
          </p:cNvPr>
          <p:cNvSpPr/>
          <p:nvPr/>
        </p:nvSpPr>
        <p:spPr>
          <a:xfrm>
            <a:off x="2423902" y="1816872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1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DF34E89-43FD-9BF8-F344-3C2C0C0ABFD8}"/>
              </a:ext>
            </a:extLst>
          </p:cNvPr>
          <p:cNvSpPr/>
          <p:nvPr/>
        </p:nvSpPr>
        <p:spPr>
          <a:xfrm>
            <a:off x="3608224" y="2184454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663E655-96E0-9222-19E0-5045C6FC844F}"/>
              </a:ext>
            </a:extLst>
          </p:cNvPr>
          <p:cNvSpPr/>
          <p:nvPr/>
        </p:nvSpPr>
        <p:spPr>
          <a:xfrm>
            <a:off x="6320161" y="4204537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FE3F1C9-A0B8-0389-3A9B-C0B4F1548194}"/>
              </a:ext>
            </a:extLst>
          </p:cNvPr>
          <p:cNvSpPr/>
          <p:nvPr/>
        </p:nvSpPr>
        <p:spPr>
          <a:xfrm>
            <a:off x="5086657" y="3079695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F7D4EF-3828-AE32-5753-24D301D17F7B}"/>
              </a:ext>
            </a:extLst>
          </p:cNvPr>
          <p:cNvSpPr txBox="1"/>
          <p:nvPr/>
        </p:nvSpPr>
        <p:spPr>
          <a:xfrm>
            <a:off x="4407170" y="2734178"/>
            <a:ext cx="19129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Retirada do resíduo reciclável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21437C8-916D-E69E-0837-92C47944B29B}"/>
              </a:ext>
            </a:extLst>
          </p:cNvPr>
          <p:cNvSpPr txBox="1"/>
          <p:nvPr/>
        </p:nvSpPr>
        <p:spPr>
          <a:xfrm>
            <a:off x="6630391" y="4210294"/>
            <a:ext cx="19129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Entrega do resíduo no ponto de coleta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FF8569-0074-31A3-0063-5E823D088E1E}"/>
              </a:ext>
            </a:extLst>
          </p:cNvPr>
          <p:cNvSpPr txBox="1"/>
          <p:nvPr/>
        </p:nvSpPr>
        <p:spPr>
          <a:xfrm>
            <a:off x="4651755" y="4524645"/>
            <a:ext cx="795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Pagamento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59485C0-9A31-D0CA-5916-CDD30751EC2F}"/>
              </a:ext>
            </a:extLst>
          </p:cNvPr>
          <p:cNvCxnSpPr>
            <a:cxnSpLocks/>
          </p:cNvCxnSpPr>
          <p:nvPr/>
        </p:nvCxnSpPr>
        <p:spPr>
          <a:xfrm flipV="1">
            <a:off x="3977525" y="3813755"/>
            <a:ext cx="0" cy="297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BEF252B-8F97-B748-2BC5-093410694D60}"/>
              </a:ext>
            </a:extLst>
          </p:cNvPr>
          <p:cNvSpPr/>
          <p:nvPr/>
        </p:nvSpPr>
        <p:spPr>
          <a:xfrm>
            <a:off x="4843033" y="6508954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3815B86-C737-45A4-473F-2FAD829E4509}"/>
              </a:ext>
            </a:extLst>
          </p:cNvPr>
          <p:cNvSpPr/>
          <p:nvPr/>
        </p:nvSpPr>
        <p:spPr>
          <a:xfrm>
            <a:off x="4944745" y="4081426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6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4C4E1BB-03FB-10A2-B7B6-070A5C23342C}"/>
              </a:ext>
            </a:extLst>
          </p:cNvPr>
          <p:cNvSpPr/>
          <p:nvPr/>
        </p:nvSpPr>
        <p:spPr>
          <a:xfrm>
            <a:off x="2728702" y="5490055"/>
            <a:ext cx="256439" cy="246221"/>
          </a:xfrm>
          <a:prstGeom prst="ellipse">
            <a:avLst/>
          </a:prstGeom>
          <a:solidFill>
            <a:srgbClr val="CC0099"/>
          </a:solidFill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D30959-ECB2-F901-D11F-78A31976D660}"/>
              </a:ext>
            </a:extLst>
          </p:cNvPr>
          <p:cNvSpPr txBox="1"/>
          <p:nvPr/>
        </p:nvSpPr>
        <p:spPr>
          <a:xfrm>
            <a:off x="4519794" y="6168766"/>
            <a:ext cx="1036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Atualiza dados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4426AC7-6337-C7C1-0F07-41D1A0E60EF5}"/>
              </a:ext>
            </a:extLst>
          </p:cNvPr>
          <p:cNvSpPr txBox="1"/>
          <p:nvPr/>
        </p:nvSpPr>
        <p:spPr>
          <a:xfrm>
            <a:off x="2449105" y="5135068"/>
            <a:ext cx="30994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Separação e envio de resíduos à fábrica para reciclagem</a:t>
            </a:r>
          </a:p>
        </p:txBody>
      </p:sp>
    </p:spTree>
    <p:extLst>
      <p:ext uri="{BB962C8B-B14F-4D97-AF65-F5344CB8AC3E}">
        <p14:creationId xmlns:p14="http://schemas.microsoft.com/office/powerpoint/2010/main" val="241730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0A5A-13BA-203F-7ABF-F665198A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7109F25-03C4-9E72-2993-DA3EBA90F500}"/>
              </a:ext>
            </a:extLst>
          </p:cNvPr>
          <p:cNvSpPr txBox="1"/>
          <p:nvPr/>
        </p:nvSpPr>
        <p:spPr>
          <a:xfrm>
            <a:off x="-1" y="0"/>
            <a:ext cx="9170419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6ª ENTREGA: Quadro “é não é faz não faz”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FA4189-BF00-4ADD-66E2-071AB5DD4579}"/>
              </a:ext>
            </a:extLst>
          </p:cNvPr>
          <p:cNvSpPr/>
          <p:nvPr/>
        </p:nvSpPr>
        <p:spPr>
          <a:xfrm>
            <a:off x="17531" y="3626580"/>
            <a:ext cx="4172760" cy="1519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rgbClr val="C00000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C00000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C00000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Um ecossistema digital de geração de renda e organização da cadeia de reciclagem;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Uma solução orientada por dados para apoiar decisões operacionais e de políticas públicas;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Um modelo de impacto social com viabilidade.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 .econômica.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C00000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AA242-315C-3553-6996-D3BBE4345AD5}"/>
              </a:ext>
            </a:extLst>
          </p:cNvPr>
          <p:cNvSpPr/>
          <p:nvPr/>
        </p:nvSpPr>
        <p:spPr>
          <a:xfrm>
            <a:off x="4190294" y="3642694"/>
            <a:ext cx="4932694" cy="14287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rgbClr val="C00000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Apenas um aplicativo de coleta de lixo comum;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Um projeto assistencialista;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Um sistema sem métricas, controle ou rastreabilidade.</a:t>
            </a:r>
          </a:p>
          <a:p>
            <a:endParaRPr lang="pt-BR" sz="1400" dirty="0">
              <a:solidFill>
                <a:srgbClr val="C00000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829076C-98FB-4ECF-3B64-24F3CE1816D1}"/>
              </a:ext>
            </a:extLst>
          </p:cNvPr>
          <p:cNvSpPr/>
          <p:nvPr/>
        </p:nvSpPr>
        <p:spPr>
          <a:xfrm>
            <a:off x="17535" y="5023408"/>
            <a:ext cx="4172761" cy="1744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rgbClr val="C00000"/>
              </a:solidFill>
            </a:endParaRPr>
          </a:p>
          <a:p>
            <a:endParaRPr lang="pt-BR" sz="1400" dirty="0">
              <a:solidFill>
                <a:srgbClr val="C00000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Conecta oferta (cidadão) e demanda (fábrica de reciclagem) de forma estruturada;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Gera oportunidades de renda por meio de pagamentos pela coleta realizada;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Cria base para parcerias com indústrias, prefeituras e cooperativas.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3459410-6782-6418-043C-340F11BAFAEF}"/>
              </a:ext>
            </a:extLst>
          </p:cNvPr>
          <p:cNvSpPr/>
          <p:nvPr/>
        </p:nvSpPr>
        <p:spPr>
          <a:xfrm>
            <a:off x="4190291" y="5023408"/>
            <a:ext cx="4932696" cy="1744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Não substitui o papel do poder público na gestão dos resíduos;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Não garante renda fixa sem a realização efetiva das coletas;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Não resolve sozinho os problemas estruturais de coleta seletiva;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C00000"/>
                </a:solidFill>
              </a:rPr>
              <a:t>Não atua fora das regras ambientais e legais do setor de resíduos.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28C81C-A0FD-9DBE-1C66-204D3673F21A}"/>
              </a:ext>
            </a:extLst>
          </p:cNvPr>
          <p:cNvSpPr txBox="1"/>
          <p:nvPr/>
        </p:nvSpPr>
        <p:spPr>
          <a:xfrm>
            <a:off x="17534" y="3128493"/>
            <a:ext cx="9105453" cy="492443"/>
          </a:xfrm>
          <a:prstGeom prst="rect">
            <a:avLst/>
          </a:prstGeom>
          <a:solidFill>
            <a:srgbClr val="FF3399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600" b="1" cap="small" dirty="0">
                <a:solidFill>
                  <a:srgbClr val="FFFF00"/>
                </a:solidFill>
              </a:rPr>
              <a:t>estabelecendo limites para o papel e a abrangência do produto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6B5DDB-9CD8-1E95-CB38-E1FBC3C0FAE7}"/>
              </a:ext>
            </a:extLst>
          </p:cNvPr>
          <p:cNvSpPr txBox="1"/>
          <p:nvPr/>
        </p:nvSpPr>
        <p:spPr>
          <a:xfrm>
            <a:off x="63397" y="358475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Aptos Black" panose="020B0004020202020204" pitchFamily="34" charset="0"/>
              </a:rPr>
              <a:t>É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37422E-E99D-DAC0-2964-FFC3C16D9054}"/>
              </a:ext>
            </a:extLst>
          </p:cNvPr>
          <p:cNvSpPr txBox="1"/>
          <p:nvPr/>
        </p:nvSpPr>
        <p:spPr>
          <a:xfrm>
            <a:off x="4190297" y="3633037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Aptos Black" panose="020B0004020202020204" pitchFamily="34" charset="0"/>
              </a:rPr>
              <a:t>Não é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D76649-6D95-0E5C-B31D-0C37C040EFE8}"/>
              </a:ext>
            </a:extLst>
          </p:cNvPr>
          <p:cNvSpPr txBox="1"/>
          <p:nvPr/>
        </p:nvSpPr>
        <p:spPr>
          <a:xfrm>
            <a:off x="21012" y="5012360"/>
            <a:ext cx="54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Aptos Black" panose="020B0004020202020204" pitchFamily="34" charset="0"/>
              </a:rPr>
              <a:t>Faz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9A1C655-C256-EADB-3A6C-3AB1787A86AE}"/>
              </a:ext>
            </a:extLst>
          </p:cNvPr>
          <p:cNvSpPr txBox="1"/>
          <p:nvPr/>
        </p:nvSpPr>
        <p:spPr>
          <a:xfrm>
            <a:off x="4190292" y="4968239"/>
            <a:ext cx="98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ptos Black" panose="020B0004020202020204" pitchFamily="34" charset="0"/>
              </a:rPr>
              <a:t>Não faz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ABCB11-69EF-24D1-14A7-495DE4C904B9}"/>
              </a:ext>
            </a:extLst>
          </p:cNvPr>
          <p:cNvSpPr txBox="1"/>
          <p:nvPr/>
        </p:nvSpPr>
        <p:spPr>
          <a:xfrm>
            <a:off x="0" y="532877"/>
            <a:ext cx="9143999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visão do produto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/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  <a:r>
              <a:rPr lang="pt-BR" sz="1400" b="1" cap="small" dirty="0">
                <a:solidFill>
                  <a:prstClr val="black"/>
                </a:solidFill>
                <a:latin typeface="Calibri"/>
              </a:rPr>
              <a:t>ARA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lang="pt-BR" sz="1400" dirty="0">
                <a:solidFill>
                  <a:srgbClr val="FF3399"/>
                </a:solidFill>
              </a:rPr>
              <a:t>cidadãos que desejam descartar corretamente seus resíduos recicláveis e para profissionais que buscam gerar renda de forma digna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lvl="0"/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 </a:t>
            </a:r>
            <a:r>
              <a:rPr lang="pt-BR" sz="1400" b="1" cap="small" dirty="0">
                <a:solidFill>
                  <a:prstClr val="black"/>
                </a:solidFill>
                <a:latin typeface="Calibri"/>
              </a:rPr>
              <a:t>QUE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lang="pt-BR" sz="1400" dirty="0">
                <a:solidFill>
                  <a:srgbClr val="FF3399"/>
                </a:solidFill>
              </a:rPr>
              <a:t>enfrentam dificuldades para conectar oferta de resíduos com quem realiza a coleta, criamos uma plataforma digital inteligente de conexão entre cidadãos, profissionais de reciclagem e pontos de apoio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lvl="0"/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 </a:t>
            </a:r>
            <a:r>
              <a:rPr lang="pt-BR" sz="1400" b="1" cap="small" dirty="0">
                <a:solidFill>
                  <a:prstClr val="black"/>
                </a:solidFill>
                <a:latin typeface="Calibri"/>
              </a:rPr>
              <a:t>QUE PROPORCIONA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lang="pt-BR" sz="1400" dirty="0">
                <a:solidFill>
                  <a:srgbClr val="FF3399"/>
                </a:solidFill>
              </a:rPr>
              <a:t>inclusão social, geração de renda, sustentabilidade ambiental e rastreabilidade dos resíduos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lvl="0"/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DIFERENTE DOS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lang="pt-BR" sz="1400" dirty="0">
                <a:solidFill>
                  <a:srgbClr val="FF3399"/>
                </a:solidFill>
              </a:rPr>
              <a:t>dos modelos tradicionais de descarte informal e da coleta sem planejamento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lvl="0"/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 E </a:t>
            </a:r>
            <a:r>
              <a:rPr lang="pt-BR" sz="1400" b="1" cap="small" dirty="0">
                <a:solidFill>
                  <a:prstClr val="black"/>
                </a:solidFill>
                <a:latin typeface="Calibri"/>
              </a:rPr>
              <a:t>NOSSA SOLUÇÃO IRÁ PROPORCIONAR</a:t>
            </a: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</a:t>
            </a:r>
            <a:r>
              <a:rPr lang="pt-BR" sz="1400" dirty="0">
                <a:solidFill>
                  <a:srgbClr val="FF3399"/>
                </a:solidFill>
              </a:rPr>
              <a:t>agendamentos digitais, geolocalização das coletas, indicação do ponto de apoio mais próximo, pagamento pelo serviço prestado e gestão de dados para apoiar decisões públicas e privadas</a:t>
            </a: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34749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456D-8E74-0F12-AA5E-A97DFBA2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063FB14-D3AF-0F1A-B421-CD9D81C47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" y="91829"/>
            <a:ext cx="683113" cy="799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ixaDeTexto 10">
            <a:extLst>
              <a:ext uri="{FF2B5EF4-FFF2-40B4-BE49-F238E27FC236}">
                <a16:creationId xmlns:a16="http://schemas.microsoft.com/office/drawing/2014/main" id="{CAEA58BB-BF5F-CC82-B5AB-1E8B16C06811}"/>
              </a:ext>
            </a:extLst>
          </p:cNvPr>
          <p:cNvSpPr txBox="1"/>
          <p:nvPr/>
        </p:nvSpPr>
        <p:spPr>
          <a:xfrm>
            <a:off x="892884" y="268423"/>
            <a:ext cx="8154298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7ª ENTREGA: REGRAS E REQUISITOS </a:t>
            </a:r>
            <a:r>
              <a:rPr lang="pt-BR" sz="2800" b="1" dirty="0">
                <a:solidFill>
                  <a:prstClr val="black"/>
                </a:solidFill>
                <a:latin typeface="Calibri"/>
              </a:rPr>
              <a:t>PARA O PROJETO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A98D58-5440-43E8-4E33-41E0748E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794" y="1199957"/>
            <a:ext cx="4966474" cy="51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8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1B6B-422D-E90E-9258-E85D998D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EE6B4F7-1F28-94FF-3D6E-C48AB7269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" y="91829"/>
            <a:ext cx="683113" cy="799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ixaDeTexto 10">
            <a:extLst>
              <a:ext uri="{FF2B5EF4-FFF2-40B4-BE49-F238E27FC236}">
                <a16:creationId xmlns:a16="http://schemas.microsoft.com/office/drawing/2014/main" id="{A453199D-BFFD-7DB5-D4CD-886F55C8FC58}"/>
              </a:ext>
            </a:extLst>
          </p:cNvPr>
          <p:cNvSpPr txBox="1"/>
          <p:nvPr/>
        </p:nvSpPr>
        <p:spPr>
          <a:xfrm>
            <a:off x="96818" y="1033316"/>
            <a:ext cx="8928848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dirty="0">
                <a:solidFill>
                  <a:prstClr val="black"/>
                </a:solidFill>
                <a:latin typeface="Calibri"/>
              </a:rPr>
              <a:t>PROJETO CONCEITUAL DE BANCO DE DADOS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3EFA9-EC96-63A8-0169-2D2007C97F1E}"/>
              </a:ext>
            </a:extLst>
          </p:cNvPr>
          <p:cNvSpPr txBox="1"/>
          <p:nvPr/>
        </p:nvSpPr>
        <p:spPr>
          <a:xfrm>
            <a:off x="96818" y="1675167"/>
            <a:ext cx="7344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Crie o seu projeto na ferramenta Oracle Data Modeler: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F2FFB-270E-1DF0-66FE-E84C4D378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04" y="2030407"/>
            <a:ext cx="7240550" cy="4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791995-7579-403d-890a-6e3e017e0c43" xsi:nil="true"/>
    <lcf76f155ced4ddcb4097134ff3c332f xmlns="34cf085e-19ad-4e7f-97e3-12854e4d679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587DEE977C9143A042F3416864AA9F" ma:contentTypeVersion="14" ma:contentTypeDescription="Crie um novo documento." ma:contentTypeScope="" ma:versionID="d9c0407d014be372befd64ecc2de9896">
  <xsd:schema xmlns:xsd="http://www.w3.org/2001/XMLSchema" xmlns:xs="http://www.w3.org/2001/XMLSchema" xmlns:p="http://schemas.microsoft.com/office/2006/metadata/properties" xmlns:ns2="34cf085e-19ad-4e7f-97e3-12854e4d6797" xmlns:ns3="00791995-7579-403d-890a-6e3e017e0c43" targetNamespace="http://schemas.microsoft.com/office/2006/metadata/properties" ma:root="true" ma:fieldsID="e84778c78fd923354d35848b0d28559f" ns2:_="" ns3:_="">
    <xsd:import namespace="34cf085e-19ad-4e7f-97e3-12854e4d6797"/>
    <xsd:import namespace="00791995-7579-403d-890a-6e3e017e0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f085e-19ad-4e7f-97e3-12854e4d6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91995-7579-403d-890a-6e3e017e0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2ce42ba-8035-4113-bdb9-87496ce687b4}" ma:internalName="TaxCatchAll" ma:showField="CatchAllData" ma:web="00791995-7579-403d-890a-6e3e017e0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E19BC4-2210-41C7-A67C-FB8B374E9359}">
  <ds:schemaRefs>
    <ds:schemaRef ds:uri="http://schemas.microsoft.com/office/2006/metadata/properties"/>
    <ds:schemaRef ds:uri="http://schemas.microsoft.com/office/infopath/2007/PartnerControls"/>
    <ds:schemaRef ds:uri="00791995-7579-403d-890a-6e3e017e0c43"/>
    <ds:schemaRef ds:uri="34cf085e-19ad-4e7f-97e3-12854e4d6797"/>
  </ds:schemaRefs>
</ds:datastoreItem>
</file>

<file path=customXml/itemProps2.xml><?xml version="1.0" encoding="utf-8"?>
<ds:datastoreItem xmlns:ds="http://schemas.openxmlformats.org/officeDocument/2006/customXml" ds:itemID="{E821BFEC-DE31-4293-9880-3808F01E6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EE415F-0033-4805-A1AB-6F101C242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cf085e-19ad-4e7f-97e3-12854e4d6797"/>
    <ds:schemaRef ds:uri="00791995-7579-403d-890a-6e3e017e0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9956</TotalTime>
  <Words>860</Words>
  <Application>Microsoft Office PowerPoint</Application>
  <PresentationFormat>Apresentação na tela (4:3)</PresentationFormat>
  <Paragraphs>103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Aptos Black</vt:lpstr>
      <vt:lpstr>Arial</vt:lpstr>
      <vt:lpstr>Calibri</vt:lpstr>
      <vt:lpstr>Gotham HTF</vt:lpstr>
      <vt:lpstr>Gotham HTF Book</vt:lpstr>
      <vt:lpstr>Gotham-Bold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Juliana Dini Jose</cp:lastModifiedBy>
  <cp:revision>454</cp:revision>
  <cp:lastPrinted>2022-04-14T21:52:15Z</cp:lastPrinted>
  <dcterms:created xsi:type="dcterms:W3CDTF">2015-01-30T10:46:50Z</dcterms:created>
  <dcterms:modified xsi:type="dcterms:W3CDTF">2025-12-18T15:00:48Z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0x01010086587DEE977C9143A042F3416864AA9F</vt:lpwstr>
  </property>
</Properties>
</file>